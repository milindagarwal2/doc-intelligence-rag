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0a24ca6-3a3f-599d-5878-08a9c7334a0a}">
          <p14:sldIdLst>
            <p14:sldId id="256"/>
          </p14:sldIdLst>
        </p14:section>
        <p14:section name="Summary" id="{3959d885-243a-21ff-2a2d-9276202b8757}">
          <p14:sldIdLst>
            <p14:sldId id="257"/>
          </p14:sldIdLst>
        </p14:section>
        <p14:section name="Performance" id="{458b2f3f-c823-11b8-7716-93dc75866da6}">
          <p14:sldIdLst>
            <p14:sldId id="258"/>
            <p14:sldId id="259"/>
          </p14:sldIdLst>
        </p14:section>
        <p14:section name="Network" id="{9bce897c-e4bf-9865-22b7-e206e706328b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latency, throughput, and coverage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5G Network Performance Report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gnal ring 1"/>
          <p:cNvSpPr/>
          <p:nvPr/>
        </p:nvSpPr>
        <p:spPr>
          <a:xfrm>
            <a:off x="7680960" y="-548640"/>
            <a:ext cx="2194560" cy="21945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" name="Signal ring 2"/>
          <p:cNvSpPr/>
          <p:nvPr/>
        </p:nvSpPr>
        <p:spPr>
          <a:xfrm>
            <a:off x="7955280" y="-274320"/>
            <a:ext cx="1645920" cy="1645920"/>
          </a:xfrm>
          <a:prstGeom prst="ellipse">
            <a:avLst/>
          </a:prstGeom>
          <a:solidFill>
            <a:schemeClr val="accent1">
              <a:alpha val="22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4" name="Signal ring 3"/>
          <p:cNvSpPr/>
          <p:nvPr/>
        </p:nvSpPr>
        <p:spPr>
          <a:xfrm>
            <a:off x="8229600" y="0"/>
            <a:ext cx="1097280" cy="109728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5" name="Signal source"/>
          <p:cNvSpPr/>
          <p:nvPr/>
        </p:nvSpPr>
        <p:spPr>
          <a:xfrm>
            <a:off x="8641080" y="41148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5G Network Performance Report 2026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40080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Quarterly KPI Review</a:t>
            </a:r>
            <a:endParaRPr lang="en-US" sz="2200" dirty="0"/>
          </a:p>
        </p:txBody>
      </p:sp>
      <p:sp>
        <p:nvSpPr>
          <p:cNvPr id="8" name="Agenda tagline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Q3 2026  ·  Latency  ·  Throughput  ·  Coverage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Summary bullets"/>
          <p:cNvSpPr txBox="1"/>
          <p:nvPr/>
        </p:nvSpPr>
        <p:spPr>
          <a:xfrm>
            <a:off x="457200" y="1188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Latency: average round-trip latency reduced 20% quarter over quarter, driven by edge (MEC) offload.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Throughput: peak downlink reached 12 Gbps on mmWave carriers after carrier-aggregation upgrades.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Coverage: 98% of urban population now covered, with suburban infill continuing.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Energy efficiency: energy per GB delivered fell 15% through AI-driven cell sleep modes.</a:t>
            </a:r>
            <a:endParaRPr lang="en-US" sz="1500" dirty="0"/>
          </a:p>
        </p:txBody>
      </p:sp>
      <p:sp>
        <p:nvSpPr>
          <p:cNvPr id="4" name="Stat card Avg latency"/>
          <p:cNvSpPr/>
          <p:nvPr/>
        </p:nvSpPr>
        <p:spPr>
          <a:xfrm>
            <a:off x="5394960" y="1234440"/>
            <a:ext cx="1463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Stat value Avg latency"/>
          <p:cNvSpPr txBox="1"/>
          <p:nvPr/>
        </p:nvSpPr>
        <p:spPr>
          <a:xfrm>
            <a:off x="5394960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−20%</a:t>
            </a:r>
            <a:endParaRPr lang="en-US" sz="2400" dirty="0"/>
          </a:p>
        </p:txBody>
      </p:sp>
      <p:sp>
        <p:nvSpPr>
          <p:cNvPr id="6" name="Stat label Avg latency"/>
          <p:cNvSpPr txBox="1"/>
          <p:nvPr/>
        </p:nvSpPr>
        <p:spPr>
          <a:xfrm>
            <a:off x="539496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Avg latency</a:t>
            </a:r>
            <a:endParaRPr lang="en-US" sz="1100" dirty="0"/>
          </a:p>
        </p:txBody>
      </p:sp>
      <p:sp>
        <p:nvSpPr>
          <p:cNvPr id="7" name="Stat card Peak downlink"/>
          <p:cNvSpPr/>
          <p:nvPr/>
        </p:nvSpPr>
        <p:spPr>
          <a:xfrm>
            <a:off x="7086600" y="1234440"/>
            <a:ext cx="146304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8" name="Stat value Peak downlink"/>
          <p:cNvSpPr txBox="1"/>
          <p:nvPr/>
        </p:nvSpPr>
        <p:spPr>
          <a:xfrm>
            <a:off x="7086600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Gbps</a:t>
            </a:r>
            <a:endParaRPr lang="en-US" sz="2400" dirty="0"/>
          </a:p>
        </p:txBody>
      </p:sp>
      <p:sp>
        <p:nvSpPr>
          <p:cNvPr id="9" name="Stat label Peak downlink"/>
          <p:cNvSpPr txBox="1"/>
          <p:nvPr/>
        </p:nvSpPr>
        <p:spPr>
          <a:xfrm>
            <a:off x="708660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Peak downlink</a:t>
            </a:r>
            <a:endParaRPr lang="en-US" sz="1100" dirty="0"/>
          </a:p>
        </p:txBody>
      </p:sp>
      <p:sp>
        <p:nvSpPr>
          <p:cNvPr id="10" name="Stat card Urban coverage"/>
          <p:cNvSpPr/>
          <p:nvPr/>
        </p:nvSpPr>
        <p:spPr>
          <a:xfrm>
            <a:off x="5394960" y="2834640"/>
            <a:ext cx="1463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Stat value Urban coverage"/>
          <p:cNvSpPr txBox="1"/>
          <p:nvPr/>
        </p:nvSpPr>
        <p:spPr>
          <a:xfrm>
            <a:off x="5394960" y="3063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400" dirty="0"/>
          </a:p>
        </p:txBody>
      </p:sp>
      <p:sp>
        <p:nvSpPr>
          <p:cNvPr id="12" name="Stat label Urban coverage"/>
          <p:cNvSpPr txBox="1"/>
          <p:nvPr/>
        </p:nvSpPr>
        <p:spPr>
          <a:xfrm>
            <a:off x="539496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Urban coverage</a:t>
            </a:r>
            <a:endParaRPr lang="en-US" sz="1100" dirty="0"/>
          </a:p>
        </p:txBody>
      </p:sp>
      <p:sp>
        <p:nvSpPr>
          <p:cNvPr id="13" name="Stat card Energy per GB"/>
          <p:cNvSpPr/>
          <p:nvPr/>
        </p:nvSpPr>
        <p:spPr>
          <a:xfrm>
            <a:off x="7086600" y="2834640"/>
            <a:ext cx="1463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Stat value Energy per GB"/>
          <p:cNvSpPr txBox="1"/>
          <p:nvPr/>
        </p:nvSpPr>
        <p:spPr>
          <a:xfrm>
            <a:off x="7086600" y="3063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−15%</a:t>
            </a:r>
            <a:endParaRPr lang="en-US" sz="2400" dirty="0"/>
          </a:p>
        </p:txBody>
      </p:sp>
      <p:sp>
        <p:nvSpPr>
          <p:cNvPr id="15" name="Stat label Energy per GB"/>
          <p:cNvSpPr txBox="1"/>
          <p:nvPr/>
        </p:nvSpPr>
        <p:spPr>
          <a:xfrm>
            <a:off x="708660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Energy per GB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Latency by Region</a:t>
            </a:r>
            <a:endParaRPr lang="en-US" sz="3200" dirty="0"/>
          </a:p>
        </p:txBody>
      </p:sp>
      <p:graphicFrame>
        <p:nvGraphicFramePr>
          <p:cNvPr id="4" name="Latency by reg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Latency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Asia-Pacific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East &amp; Africa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Latency callout card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Latency callout text"/>
          <p:cNvSpPr txBox="1"/>
          <p:nvPr/>
        </p:nvSpPr>
        <p:spPr>
          <a:xfrm>
            <a:off x="6355080" y="141732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ms</a:t>
            </a:r>
            <a:endParaRPr lang="en-US" sz="3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Europe leads on average latency</a:t>
            </a:r>
            <a:endParaRPr lang="en-US" sz="3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All regions now average under 7 ms; peak-to-average ratio holds near 2.2×.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Throughput Specifications</a:t>
            </a:r>
            <a:endParaRPr lang="en-US" sz="3200" dirty="0"/>
          </a:p>
        </p:txBody>
      </p:sp>
      <p:graphicFrame>
        <p:nvGraphicFramePr>
          <p:cNvPr id="5" name="Throughput specific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Downlink (Gbps)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Uplink (Gbps)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n77 · 3.7 GHz C-band (mid-band)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n78 · 3.5 GHz (mid-band)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n258 · 26 GHz (mmWave)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n261 · 28 GHz (mmWave)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Note marker"/>
          <p:cNvSpPr/>
          <p:nvPr/>
        </p:nvSpPr>
        <p:spPr>
          <a:xfrm>
            <a:off x="457200" y="395020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hroughput note"/>
          <p:cNvSpPr txBox="1"/>
          <p:nvPr/>
        </p:nvSpPr>
        <p:spPr>
          <a:xfrm>
            <a:off x="896112" y="38587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mmWave bands deliver ~2.7× the mid-band downlink; mid-band carries most traffic thanks to wider reach.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Network Architecture</a:t>
            </a:r>
            <a:endParaRPr lang="en-US" sz="3200" dirty="0"/>
          </a:p>
        </p:txBody>
      </p:sp>
      <p:pic>
        <p:nvPicPr>
          <p:cNvPr id="3" name="Architecture diagram" descr="Block diagram: user equipment to RAN to transport to 5G core to data network, with network slicing spanning RAN through c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863840" cy="2839720"/>
          </a:xfrm>
          <a:prstGeom prst="rect">
            <a:avLst/>
          </a:prstGeom>
        </p:spPr>
      </p:pic>
      <p:sp>
        <p:nvSpPr>
          <p:cNvPr id="4" name="Architecture caption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Figure 1. Standalone 5G architecture: traffic flows from devices through the RAN and transport to the cloud-native core.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Coverage Map</a:t>
            </a:r>
            <a:endParaRPr lang="en-US" sz="3200" dirty="0"/>
          </a:p>
        </p:txBody>
      </p:sp>
      <p:pic>
        <p:nvPicPr>
          <p:cNvPr id="3" name="Coverage map" descr="Hexagonal coverage heat map showing excellent coverage around three metro areas fading to limited coverage at the ed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66944" cy="3291840"/>
          </a:xfrm>
          <a:prstGeom prst="rect">
            <a:avLst/>
          </a:prstGeom>
        </p:spPr>
      </p:pic>
      <p:sp>
        <p:nvSpPr>
          <p:cNvPr id="4" name="Coverage bullets"/>
          <p:cNvSpPr txBox="1"/>
          <p:nvPr/>
        </p:nvSpPr>
        <p:spPr>
          <a:xfrm>
            <a:off x="5943600" y="118872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Urban cores: 98% of the urban population sits in Good or Excellent coverage across all three metros.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Rural edge: Fair and Limited zones remain at the periphery; low-band infill is planned for Q4.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G Signal">
  <a:themeElements>
    <a:clrScheme name="5G Signal">
      <a:dk1>
        <a:srgbClr val="0B1F33"/>
      </a:dk1>
      <a:lt1>
        <a:srgbClr val="FFFFFF"/>
      </a:lt1>
      <a:dk2>
        <a:srgbClr val="1C3A57"/>
      </a:dk2>
      <a:lt2>
        <a:srgbClr val="E8F4F2"/>
      </a:lt2>
      <a:accent1>
        <a:srgbClr val="00A896"/>
      </a:accent1>
      <a:accent2>
        <a:srgbClr val="FF6B35"/>
      </a:accent2>
      <a:accent3>
        <a:srgbClr val="008C7D"/>
      </a:accent3>
      <a:accent4>
        <a:srgbClr val="8CDCCD"/>
      </a:accent4>
      <a:accent5>
        <a:srgbClr val="5B7083"/>
      </a:accent5>
      <a:accent6>
        <a:srgbClr val="F2B134"/>
      </a:accent6>
      <a:hlink>
        <a:srgbClr val="00A896"/>
      </a:hlink>
      <a:folHlink>
        <a:srgbClr val="008C7D"/>
      </a:folHlink>
    </a:clrScheme>
    <a:fontScheme name="5G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5G Network Performance Report 2026</dc:title>
  <dc:subject>Quarterly KPI Review</dc:subject>
  <dc:creator>PptxGenJS</dc:creator>
  <cp:lastModifiedBy>PptxGenJS</cp:lastModifiedBy>
  <cp:revision>1</cp:revision>
  <dcterms:created xsi:type="dcterms:W3CDTF">2026-10-07T04:05:51Z</dcterms:created>
  <dcterms:modified xsi:type="dcterms:W3CDTF">2026-10-07T04:05:51Z</dcterms:modified>
</cp:coreProperties>
</file>